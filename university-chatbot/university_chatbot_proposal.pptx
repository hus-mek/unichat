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Year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On-Premise GPU</c:v>
                </c:pt>
                <c:pt idx="1">
                  <c:v>Azure Cloud</c:v>
                </c:pt>
                <c:pt idx="2">
                  <c:v>AWS Cloud</c:v>
                </c:pt>
                <c:pt idx="3">
                  <c:v>Groq API Hybrid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60000</c:v>
                </c:pt>
                <c:pt idx="1">
                  <c:v>46740</c:v>
                </c:pt>
                <c:pt idx="2">
                  <c:v>17676</c:v>
                </c:pt>
                <c:pt idx="3">
                  <c:v>3196.8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Year 2+/yr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On-Premise GPU</c:v>
                </c:pt>
                <c:pt idx="1">
                  <c:v>Azure Cloud</c:v>
                </c:pt>
                <c:pt idx="2">
                  <c:v>AWS Cloud</c:v>
                </c:pt>
                <c:pt idx="3">
                  <c:v>Groq API Hybrid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10000</c:v>
                </c:pt>
                <c:pt idx="1">
                  <c:v>46740</c:v>
                </c:pt>
                <c:pt idx="2">
                  <c:v>17676</c:v>
                </c:pt>
                <c:pt idx="3">
                  <c:v>3196.8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5-Year TCO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On-Premise GPU</c:v>
                </c:pt>
                <c:pt idx="1">
                  <c:v>Azure Cloud</c:v>
                </c:pt>
                <c:pt idx="2">
                  <c:v>AWS Cloud</c:v>
                </c:pt>
                <c:pt idx="3">
                  <c:v>Groq API Hybrid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100000</c:v>
                </c:pt>
                <c:pt idx="1">
                  <c:v>233700</c:v>
                </c:pt>
                <c:pt idx="2">
                  <c:v>88380</c:v>
                </c:pt>
                <c:pt idx="3">
                  <c:v>15984.0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B3A5C"/>
                </a:solidFill>
              </a:defRPr>
            </a:pPr>
            <a:r>
              <a:t>AI-Powered University Chatbot</a:t>
            </a:r>
          </a:p>
          <a:p>
            <a:pPr algn="ctr">
              <a:defRPr sz="2400">
                <a:solidFill>
                  <a:srgbClr val="2E86C1"/>
                </a:solidFill>
              </a:defRPr>
            </a:pPr>
            <a:r>
              <a:t>Deployment Proposal for University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t>RAG-Based Knowledge Assistant with Multi-Level Access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AI-powered chatbot trained exclusively on university documents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5-level access control: Public, Student, Faculty, Admin Staff, Executive Board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Multi-tenant architecture supporting per-department document collections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RAG (Retrieval-Augmented Generation) ensures answers come only from approved documents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Flexible deployment: on-premise, cloud, or hybrid API-based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Designed for ~1,000 queries per 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Current Demo vs. Production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DEMO: No real authentication - access level selected via dropdown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DEMO: Only 3 access levels (public, student, faculty)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DEMO: Single document collection, no department separation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DEMO: No audit logging, session history, or usage tracking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PRODUCTION: JWT authentication with SSO-ready architecture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PRODUCTION: 5 access levels with document and collection-level control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PRODUCTION: Multi-tenant with per-department document spaces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PRODUCTION: Full audit trail, session persistence, cost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Frontend: Streamlit web interface (upgradeable to React)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Backend: FastAPI REST API with async request handling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Database: PostgreSQL for users, sessions, audit logs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Vector Store: ChromaDB for semantic document search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Embeddings: all-MiniLM-L6-v2 (384 dimensions)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LLM: Pluggable provider (Groq API / vLLM / Ollama / Azure OpenAI)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Deployment: Docker Compose with nginx reverse proxy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Context-only answers: strict guardrails prevent hallucination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Document upload: PDF, Excel, Word with automatic text extraction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Semantic search: finds relevant passages even with paraphrased queries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Cost tracking: per-query token usage and cost monitoring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Session history: persistent chat sessions for each user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Admin dashboard: user management, audit logs, system statistics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Report generation: automated PowerPoint proposals with cost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5-Level Access Control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24839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Can Access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Typical Users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Public documents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Anonymous / visitors</a:t>
                      </a:r>
                    </a:p>
                  </a:txBody>
                  <a:tcPr/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Student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Public + Student docs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Enrolled students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Faculty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Public + Student + Faculty 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Professors, lecturers</a:t>
                      </a:r>
                    </a:p>
                  </a:txBody>
                  <a:tcPr/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Admin Staff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All except Executive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Department admins, IT staff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Executive 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All documents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University leadership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Multi-Tenant Document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Each department can have its own document collection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Collections have a minimum access level requirement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Fine-grained grants: specific users can access specific collections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Documents within collections have their own access levels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Two-layer security: collection access + document access must both pass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Example: HR collection (admin_staff) with salary docs (executive_board)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RAG Pipeline: How Answers Are Generated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User submits a question through the chat interface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Question is converted to a 384-dimensional embedding vector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ChromaDB performs semantic similarity search across accessible documents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Access control filters ensure user only sees permitted content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5. Top 15 relevant passages are assembled into context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6. LLM generates an answer using ONLY the provided context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7. Response includes source citations, token usage, and cost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Security &amp; SSO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JWT-based authentication with configurable token expiry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bcrypt password hashing for local accounts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SSO integration points: SAML 2.0, OpenID Connect, LDAP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All actions logged in audit trail (login, query, upload, delete)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Rate limiting per user to prevent API abuse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Document-level access control enforced at query time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System prompt prevents LLM from leaking confidential information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5-Year Total Cost of Ownership Comparison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Option A: On-Premise GPU Server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13954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Specification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2x NVIDIA A100 40GB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$30,000</a:t>
                      </a:r>
                    </a:p>
                  </a:txBody>
                  <a:tcPr/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Server (CPU, RAM, Storage)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AMD EPYC + 256GB + 4TB NVMe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$20,000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Annual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Electricity + IT 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$10,000/yr</a:t>
                      </a:r>
                    </a:p>
                  </a:txBody>
                  <a:tcPr/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Software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vLLM + open-source models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Year 1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$60,000</a:t>
                      </a:r>
                    </a:p>
                  </a:txBody>
                  <a:tcPr/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5-Year TCO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$100,000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Option B: Azure Cloud Deployment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13954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Resource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Specification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Monthly Cost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GPU 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NC24ads A100 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$3,500</a:t>
                      </a:r>
                    </a:p>
                  </a:txBody>
                  <a:tcPr/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App VM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D4s v5 (4 vCPU, 16GB)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$140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PostgreSQL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General Purpose, 4 vCores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$200</a:t>
                      </a:r>
                    </a:p>
                  </a:txBody>
                  <a:tcPr/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Storage + Network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100GB Blob + VNet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Monthly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$3,895</a:t>
                      </a:r>
                    </a:p>
                  </a:txBody>
                  <a:tcPr/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Annual Total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$46,740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Option C: Groq API Hybrid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13954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Monthly Cost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Groq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~30,000 queries/month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$41.40</a:t>
                      </a:r>
                    </a:p>
                  </a:txBody>
                  <a:tcPr/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Cloud VM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Backend + ChromaDB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$150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Managed PostgreSQL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Small instance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$75</a:t>
                      </a:r>
                    </a:p>
                  </a:txBody>
                  <a:tcPr/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Monthly Total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$266.40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Annual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$3,196.80</a:t>
                      </a:r>
                    </a:p>
                  </a:txBody>
                  <a:tcPr/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5-Year TCO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$15,984.00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Implementation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Phase 1: Backend foundation - FastAPI, PostgreSQL, JWT auth, 5-level access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Phase 2: RAG engine - document processing, embeddings, ChromaDB, retrieval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Phase 3: API endpoints - chat, documents, collections, admin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Phase 4: Frontend - Streamlit UI consuming REST API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Phase 5: Deployment - Docker, SSL, monitoring, backups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Phase 6: SSO integration - connect to university identity provider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Recommended approach: Groq API Hybrid for initial deployment, transitioning to on-premise as usage grows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Start with Groq API Hybrid for lowest upfront cost and fastest deployment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Monitor actual usage patterns and query volumes over 3-6 months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Evaluate data sovereignty requirements with university legal team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Plan transition to on-premise if usage exceeds cost-effectiveness threshold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The pluggable LLM provider architecture allows switching without code changes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Review and approve deployment option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Provision infrastructure (cloud credits or hardware procurement)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Configure SSO integration with university identity provider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Identify initial document collections and access policies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5. Run pilot with selected department(s)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6. Gather feedback and iterate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7. University-wide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